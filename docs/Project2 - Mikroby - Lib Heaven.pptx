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76A201-BACD-CFEB-6573-36FA6D597423}" v="1633" dt="2026-05-29T10:32:05.1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9320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485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704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382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032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354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323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513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415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739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2455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3074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7587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192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5009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937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120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9275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homel.vsb.cz/~cho0178/MCU/FRDM-KL25Z_DOCK.pdf#page=3" TargetMode="External"/><Relationship Id="rId3" Type="http://schemas.openxmlformats.org/officeDocument/2006/relationships/hyperlink" Target="https://homel.vsb.cz/~cho0178/MCU/KL25P80M48SF0RM.pdf#page=771" TargetMode="External"/><Relationship Id="rId7" Type="http://schemas.openxmlformats.org/officeDocument/2006/relationships/hyperlink" Target="https://homel.vsb.cz/~cho0178/MCU/FRDM-KL25Z_DOCK.pdf#page=10" TargetMode="External"/><Relationship Id="rId2" Type="http://schemas.openxmlformats.org/officeDocument/2006/relationships/hyperlink" Target="https://homel.vsb.cz/~cho0178/MCU/KL25P80M48SF0RM.pdf#page=175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homel.vsb.cz/~cho0178/MCU/KL25P80M48SF0RM.pdf#page=457" TargetMode="External"/><Relationship Id="rId5" Type="http://schemas.openxmlformats.org/officeDocument/2006/relationships/hyperlink" Target="https://homel.vsb.cz/~cho0178/MCU/SPF-27556_REV_F.pdf#page=3" TargetMode="External"/><Relationship Id="rId4" Type="http://schemas.openxmlformats.org/officeDocument/2006/relationships/hyperlink" Target="https://homel.vsb.cz/~cho0178/MCU/KL25P80M48SF0RM.pdf#page=547" TargetMode="External"/><Relationship Id="rId9" Type="http://schemas.openxmlformats.org/officeDocument/2006/relationships/hyperlink" Target="https://homel.vsb.cz/~cho0178/MCU/MCUCompositeStructure.pdf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dpis 1">
            <a:extLst>
              <a:ext uri="{FF2B5EF4-FFF2-40B4-BE49-F238E27FC236}">
                <a16:creationId xmlns:a16="http://schemas.microsoft.com/office/drawing/2014/main" id="{7D29A9AD-8B2A-455B-9976-913C286B5A22}"/>
              </a:ext>
            </a:extLst>
          </p:cNvPr>
          <p:cNvSpPr>
            <a:spLocks noGrp="1"/>
          </p:cNvSpPr>
          <p:nvPr/>
        </p:nvSpPr>
        <p:spPr>
          <a:xfrm>
            <a:off x="3962399" y="1964267"/>
            <a:ext cx="7197726" cy="2421464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cs-CZ" b="1">
                <a:latin typeface="Berlin Sans FB Demi" panose="020E0802020502020306" pitchFamily="34" charset="0"/>
              </a:rPr>
              <a:t>Mikroby</a:t>
            </a:r>
          </a:p>
        </p:txBody>
      </p:sp>
      <p:sp>
        <p:nvSpPr>
          <p:cNvPr id="7" name="Nadpis 1">
            <a:extLst>
              <a:ext uri="{FF2B5EF4-FFF2-40B4-BE49-F238E27FC236}">
                <a16:creationId xmlns:a16="http://schemas.microsoft.com/office/drawing/2014/main" id="{9DD1F507-8FBE-C4A9-D73E-5DEBBC03CAE8}"/>
              </a:ext>
            </a:extLst>
          </p:cNvPr>
          <p:cNvSpPr>
            <a:spLocks noGrp="1"/>
          </p:cNvSpPr>
          <p:nvPr/>
        </p:nvSpPr>
        <p:spPr>
          <a:xfrm>
            <a:off x="3962399" y="1964267"/>
            <a:ext cx="7197726" cy="2421464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cs-CZ" b="1">
                <a:latin typeface="Berlin Sans FB Demi" panose="020E0802020502020306" pitchFamily="34" charset="0"/>
              </a:rPr>
              <a:t>Mikroby</a:t>
            </a:r>
          </a:p>
        </p:txBody>
      </p:sp>
      <p:sp>
        <p:nvSpPr>
          <p:cNvPr id="8" name="Podnadpis 2">
            <a:extLst>
              <a:ext uri="{FF2B5EF4-FFF2-40B4-BE49-F238E27FC236}">
                <a16:creationId xmlns:a16="http://schemas.microsoft.com/office/drawing/2014/main" id="{9012E846-2F65-5F4A-4AC0-931ED797B231}"/>
              </a:ext>
            </a:extLst>
          </p:cNvPr>
          <p:cNvSpPr>
            <a:spLocks noGrp="1"/>
          </p:cNvSpPr>
          <p:nvPr/>
        </p:nvSpPr>
        <p:spPr>
          <a:xfrm>
            <a:off x="3962399" y="4385732"/>
            <a:ext cx="7197726" cy="140546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800" kern="1200" cap="all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cs-CZ">
                <a:latin typeface="Bahnschrift" panose="020B0502040204020203" pitchFamily="34" charset="0"/>
              </a:rPr>
              <a:t>Jakub Kočnar, David Koval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1630FF0-88BA-0582-3624-3620F2505458}"/>
              </a:ext>
            </a:extLst>
          </p:cNvPr>
          <p:cNvGrpSpPr/>
          <p:nvPr/>
        </p:nvGrpSpPr>
        <p:grpSpPr>
          <a:xfrm>
            <a:off x="1778000" y="1056640"/>
            <a:ext cx="6096000" cy="2123658"/>
            <a:chOff x="1778000" y="1056640"/>
            <a:chExt cx="6096000" cy="212365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E8AC5E0-B992-49CC-1B29-60D1CD8132DF}"/>
                </a:ext>
              </a:extLst>
            </p:cNvPr>
            <p:cNvSpPr txBox="1"/>
            <p:nvPr/>
          </p:nvSpPr>
          <p:spPr>
            <a:xfrm>
              <a:off x="1781810" y="1056640"/>
              <a:ext cx="4318000" cy="212365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6600">
                  <a:latin typeface="Arial Black"/>
                  <a:ea typeface="Calibri"/>
                  <a:cs typeface="Calibri"/>
                </a:rPr>
                <a:t>Lib</a:t>
              </a:r>
              <a:br>
                <a:rPr lang="en-US" sz="6600" dirty="0">
                  <a:latin typeface="Arial Black"/>
                  <a:ea typeface="Calibri"/>
                  <a:cs typeface="Calibri"/>
                </a:rPr>
              </a:br>
              <a:endParaRPr lang="en-US" sz="6600">
                <a:latin typeface="Arial Black"/>
                <a:ea typeface="Calibri"/>
                <a:cs typeface="Calibri"/>
              </a:endParaRP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F52ADE7F-7B1D-2B1D-4096-75466BBC548E}"/>
                </a:ext>
              </a:extLst>
            </p:cNvPr>
            <p:cNvSpPr txBox="1"/>
            <p:nvPr/>
          </p:nvSpPr>
          <p:spPr>
            <a:xfrm>
              <a:off x="1778000" y="1793240"/>
              <a:ext cx="6096000" cy="138499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6600" b="0" i="0" u="none" strike="noStrike" baseline="0">
                  <a:solidFill>
                    <a:srgbClr val="FFFFFF"/>
                  </a:solidFill>
                  <a:latin typeface="Arial Black"/>
                </a:rPr>
                <a:t>Heaven</a:t>
              </a:r>
              <a:endParaRPr lang="en-US"/>
            </a:p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712A3-E2E2-B477-5F0B-0B9A196C5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638511"/>
          </a:xfrm>
        </p:spPr>
        <p:txBody>
          <a:bodyPr>
            <a:noAutofit/>
          </a:bodyPr>
          <a:lstStyle/>
          <a:p>
            <a:r>
              <a:rPr lang="en-US" sz="4000" err="1">
                <a:latin typeface="Arial Black"/>
                <a:ea typeface="Calibri Light"/>
                <a:cs typeface="Calibri Light"/>
              </a:rPr>
              <a:t>návrh</a:t>
            </a:r>
            <a:endParaRPr lang="en-US" sz="4000">
              <a:latin typeface="Arial Black"/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BD9D20-80E3-AD49-7B90-70AC139A8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240677"/>
            <a:ext cx="10828376" cy="513596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Calibri"/>
              <a:buChar char="-"/>
            </a:pPr>
            <a:r>
              <a:rPr lang="en-US" sz="2000" dirty="0" err="1">
                <a:ea typeface="Calibri" panose="020F0502020204030204"/>
                <a:cs typeface="Calibri" panose="020F0502020204030204"/>
              </a:rPr>
              <a:t>Začli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jsme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 s 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tím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, 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že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si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nejdříve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napíšeme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knihovny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 a 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až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 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poté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budeme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řešit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hru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. 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Jelikož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však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 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nastaly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jisté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 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problémy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, 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hra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 se 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vůbec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nestihla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 a 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místo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 toho 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jsme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už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radši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zdokonalovali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knihovny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.</a:t>
            </a:r>
          </a:p>
          <a:p>
            <a:pPr>
              <a:buClr>
                <a:srgbClr val="FFFFFF"/>
              </a:buClr>
              <a:buFont typeface="Calibri"/>
              <a:buChar char="-"/>
            </a:pPr>
            <a:r>
              <a:rPr lang="en-US" sz="2000" dirty="0" err="1">
                <a:ea typeface="Calibri" panose="020F0502020204030204"/>
                <a:cs typeface="Calibri" panose="020F0502020204030204"/>
              </a:rPr>
              <a:t>Aktuální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stav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 je 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spíše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testovací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. Točením 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potenciometrů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 se 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jejich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hodnota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vypysuje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 do 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konzole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. 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První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ovlivňuje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 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modrý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kanál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 a 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druhý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ovlivňuje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 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zelený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kanál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 RGB LED.</a:t>
            </a:r>
          </a:p>
        </p:txBody>
      </p:sp>
    </p:spTree>
    <p:extLst>
      <p:ext uri="{BB962C8B-B14F-4D97-AF65-F5344CB8AC3E}">
        <p14:creationId xmlns:p14="http://schemas.microsoft.com/office/powerpoint/2010/main" val="488931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3E6B5-01B3-81BA-4DDE-53C0D3D0B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F2C69-C2D8-D993-E5FD-5048E1F14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638511"/>
          </a:xfrm>
        </p:spPr>
        <p:txBody>
          <a:bodyPr>
            <a:noAutofit/>
          </a:bodyPr>
          <a:lstStyle/>
          <a:p>
            <a:r>
              <a:rPr lang="en-US" sz="4000">
                <a:latin typeface="Arial Black"/>
                <a:ea typeface="Calibri Light"/>
                <a:cs typeface="Calibri Light"/>
              </a:rPr>
              <a:t>Hardware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056B0-38D7-0289-9DF9-5B282EFFC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240677"/>
            <a:ext cx="10828376" cy="513596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b="1" dirty="0" err="1">
                <a:ea typeface="Calibri" panose="020F0502020204030204"/>
                <a:cs typeface="Calibri" panose="020F0502020204030204"/>
              </a:rPr>
              <a:t>Implementované</a:t>
            </a:r>
            <a:r>
              <a:rPr lang="en-US" sz="2000" b="1" dirty="0">
                <a:ea typeface="Calibri" panose="020F0502020204030204"/>
                <a:cs typeface="Calibri" panose="020F0502020204030204"/>
              </a:rPr>
              <a:t> </a:t>
            </a:r>
            <a:r>
              <a:rPr lang="en-US" sz="2000" b="1" dirty="0" err="1">
                <a:ea typeface="Calibri" panose="020F0502020204030204"/>
                <a:cs typeface="Calibri" panose="020F0502020204030204"/>
              </a:rPr>
              <a:t>periferie</a:t>
            </a:r>
            <a:r>
              <a:rPr lang="en-US" sz="2000" b="1" dirty="0">
                <a:ea typeface="Calibri" panose="020F0502020204030204"/>
                <a:cs typeface="Calibri" panose="020F0502020204030204"/>
              </a:rPr>
              <a:t>:</a:t>
            </a:r>
          </a:p>
          <a:p>
            <a:pPr>
              <a:buFont typeface="Calibri"/>
              <a:buChar char="-"/>
            </a:pPr>
            <a:r>
              <a:rPr lang="en-US" sz="2000">
                <a:ea typeface="Calibri" panose="020F0502020204030204"/>
                <a:cs typeface="Calibri" panose="020F0502020204030204"/>
              </a:rPr>
              <a:t>Port: </a:t>
            </a:r>
            <a:r>
              <a:rPr lang="en-US" sz="2000" dirty="0">
                <a:ea typeface="+mn-lt"/>
                <a:cs typeface="+mn-lt"/>
                <a:hlinkClick r:id="rId2"/>
              </a:rPr>
              <a:t>https://homel.vsb.cz/~cho0178/MCU/KL25P80M48SF0RM.pdf#page=175</a:t>
            </a:r>
            <a:endParaRPr lang="en-US" sz="2000" dirty="0">
              <a:ea typeface="+mn-lt"/>
              <a:cs typeface="+mn-lt"/>
            </a:endParaRPr>
          </a:p>
          <a:p>
            <a:pPr>
              <a:buClr>
                <a:srgbClr val="FFFFFF"/>
              </a:buClr>
              <a:buFont typeface="Calibri"/>
              <a:buChar char="-"/>
            </a:pPr>
            <a:r>
              <a:rPr lang="en-US" sz="2000">
                <a:ea typeface="Calibri" panose="020F0502020204030204"/>
                <a:cs typeface="Calibri" panose="020F0502020204030204"/>
              </a:rPr>
              <a:t>GPIO: </a:t>
            </a:r>
            <a:r>
              <a:rPr lang="en-US" sz="2000" dirty="0">
                <a:ea typeface="+mn-lt"/>
                <a:cs typeface="+mn-lt"/>
                <a:hlinkClick r:id="rId3"/>
              </a:rPr>
              <a:t>https://homel.vsb.cz/~cho0178/MCU/KL25P80M48SF0RM.pdf#page=771</a:t>
            </a:r>
            <a:endParaRPr lang="en-US" sz="2000" dirty="0">
              <a:ea typeface="Calibri" panose="020F0502020204030204"/>
              <a:cs typeface="Calibri" panose="020F0502020204030204"/>
            </a:endParaRPr>
          </a:p>
          <a:p>
            <a:pPr>
              <a:buClr>
                <a:srgbClr val="FFFFFF"/>
              </a:buClr>
              <a:buFont typeface="Calibri,Sans-Serif"/>
              <a:buChar char="-"/>
            </a:pPr>
            <a:r>
              <a:rPr lang="en-US" sz="2000">
                <a:ea typeface="Calibri" panose="020F0502020204030204"/>
                <a:cs typeface="Calibri" panose="020F0502020204030204"/>
              </a:rPr>
              <a:t>TPM: </a:t>
            </a:r>
            <a:r>
              <a:rPr lang="en-US" sz="2000" dirty="0">
                <a:ea typeface="+mn-lt"/>
                <a:cs typeface="+mn-lt"/>
                <a:hlinkClick r:id="rId4"/>
              </a:rPr>
              <a:t>https://homel.vsb.cz/~cho0178/MCU/KL25P80M48SF0RM.pdf#page=547</a:t>
            </a:r>
            <a:endParaRPr lang="en-US" sz="2000" dirty="0">
              <a:ea typeface="+mn-lt"/>
              <a:cs typeface="+mn-lt"/>
            </a:endParaRPr>
          </a:p>
          <a:p>
            <a:pPr>
              <a:buClr>
                <a:srgbClr val="FFFFFF"/>
              </a:buClr>
              <a:buFont typeface="Calibri"/>
              <a:buChar char="-"/>
            </a:pPr>
            <a:r>
              <a:rPr lang="en-US" sz="2000" dirty="0">
                <a:ea typeface="Calibri" panose="020F0502020204030204"/>
                <a:cs typeface="Calibri" panose="020F0502020204030204"/>
              </a:rPr>
              <a:t>RGB: </a:t>
            </a:r>
            <a:r>
              <a:rPr lang="en-US" sz="2000" dirty="0">
                <a:ea typeface="+mn-lt"/>
                <a:cs typeface="+mn-lt"/>
                <a:hlinkClick r:id="rId5"/>
              </a:rPr>
              <a:t>https://homel.vsb.cz/~cho0178/MCU/SPF-27556_REV_F.pdf#page=3</a:t>
            </a:r>
            <a:r>
              <a:rPr lang="en-US" sz="2000" dirty="0">
                <a:ea typeface="+mn-lt"/>
                <a:cs typeface="+mn-lt"/>
              </a:rPr>
              <a:t> (</a:t>
            </a:r>
            <a:r>
              <a:rPr lang="en-US" sz="2000" dirty="0" err="1">
                <a:ea typeface="+mn-lt"/>
                <a:cs typeface="+mn-lt"/>
              </a:rPr>
              <a:t>vlevo</a:t>
            </a:r>
            <a:r>
              <a:rPr lang="en-US" sz="2000" dirty="0">
                <a:ea typeface="+mn-lt"/>
                <a:cs typeface="+mn-lt"/>
              </a:rPr>
              <a:t> dole)</a:t>
            </a:r>
            <a:endParaRPr lang="en-US" dirty="0">
              <a:ea typeface="+mn-lt"/>
              <a:cs typeface="+mn-lt"/>
            </a:endParaRPr>
          </a:p>
          <a:p>
            <a:pPr>
              <a:buClr>
                <a:srgbClr val="FFFFFF"/>
              </a:buClr>
              <a:buFont typeface="Calibri"/>
              <a:buChar char="-"/>
            </a:pPr>
            <a:r>
              <a:rPr lang="en-US" sz="2000">
                <a:ea typeface="Calibri" panose="020F0502020204030204"/>
                <a:cs typeface="Calibri" panose="020F0502020204030204"/>
              </a:rPr>
              <a:t>ADC: </a:t>
            </a:r>
            <a:r>
              <a:rPr lang="en-US" sz="2000" dirty="0">
                <a:ea typeface="+mn-lt"/>
                <a:cs typeface="+mn-lt"/>
                <a:hlinkClick r:id="rId6"/>
              </a:rPr>
              <a:t>https://homel.vsb.cz/~cho0178/MCU/KL25P80M48SF0RM.pdf#page=457</a:t>
            </a:r>
            <a:endParaRPr lang="en-US" sz="2000" dirty="0">
              <a:ea typeface="Calibri" panose="020F0502020204030204"/>
              <a:cs typeface="Calibri" panose="020F0502020204030204"/>
            </a:endParaRPr>
          </a:p>
          <a:p>
            <a:pPr>
              <a:buClr>
                <a:srgbClr val="FFFFFF"/>
              </a:buClr>
              <a:buFont typeface="Calibri"/>
              <a:buChar char="-"/>
            </a:pPr>
            <a:r>
              <a:rPr lang="en-US" sz="2000" dirty="0" err="1">
                <a:ea typeface="Calibri" panose="020F0502020204030204"/>
                <a:cs typeface="Calibri" panose="020F0502020204030204"/>
              </a:rPr>
              <a:t>Potenctiometr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: </a:t>
            </a:r>
            <a:r>
              <a:rPr lang="en-US" sz="2000" dirty="0">
                <a:ea typeface="+mn-lt"/>
                <a:cs typeface="+mn-lt"/>
                <a:hlinkClick r:id="rId7"/>
              </a:rPr>
              <a:t>https://homel.vsb.cz/~cho0178/MCU/FRDM-KL25Z_DOCK.pdf#page=10</a:t>
            </a:r>
            <a:endParaRPr lang="en-US" sz="2000" dirty="0">
              <a:ea typeface="+mn-lt"/>
              <a:cs typeface="+mn-lt"/>
            </a:endParaRPr>
          </a:p>
          <a:p>
            <a:pPr>
              <a:buClr>
                <a:srgbClr val="FFFFFF"/>
              </a:buClr>
              <a:buFont typeface="Calibri"/>
              <a:buChar char="-"/>
            </a:pPr>
            <a:r>
              <a:rPr lang="en-US" sz="2000">
                <a:ea typeface="Calibri" panose="020F0502020204030204"/>
                <a:cs typeface="Calibri" panose="020F0502020204030204"/>
              </a:rPr>
              <a:t>Serial/UART: </a:t>
            </a:r>
            <a:r>
              <a:rPr lang="en-US" sz="2000" dirty="0">
                <a:ea typeface="+mn-lt"/>
                <a:cs typeface="+mn-lt"/>
                <a:hlinkClick r:id="rId8"/>
              </a:rPr>
              <a:t>https://homel.vsb.cz/~cho0178/MCU/FRDM-KL25Z_DOCK.pdf#page=3</a:t>
            </a:r>
            <a:endParaRPr lang="en-US" sz="2000" dirty="0">
              <a:ea typeface="+mn-lt"/>
              <a:cs typeface="+mn-lt"/>
            </a:endParaRPr>
          </a:p>
          <a:p>
            <a:pPr>
              <a:buClr>
                <a:srgbClr val="FFFFFF"/>
              </a:buClr>
              <a:buFont typeface="Calibri"/>
              <a:buChar char="-"/>
            </a:pPr>
            <a:endParaRPr lang="en-US" sz="2000" dirty="0">
              <a:ea typeface="Calibri" panose="020F0502020204030204"/>
              <a:cs typeface="Calibri" panose="020F0502020204030204"/>
            </a:endParaRPr>
          </a:p>
          <a:p>
            <a:pPr marL="0" indent="0">
              <a:buClr>
                <a:srgbClr val="FFFFFF"/>
              </a:buClr>
              <a:buNone/>
            </a:pPr>
            <a:r>
              <a:rPr lang="en-US" sz="2000" b="1" dirty="0">
                <a:ea typeface="Calibri" panose="020F0502020204030204"/>
                <a:cs typeface="Calibri" panose="020F0502020204030204"/>
              </a:rPr>
              <a:t>Schéma </a:t>
            </a:r>
            <a:r>
              <a:rPr lang="en-US" sz="2000" b="1" dirty="0" err="1">
                <a:ea typeface="Calibri" panose="020F0502020204030204"/>
                <a:cs typeface="Calibri" panose="020F0502020204030204"/>
              </a:rPr>
              <a:t>desky</a:t>
            </a:r>
            <a:r>
              <a:rPr lang="en-US" sz="2000" b="1" dirty="0">
                <a:ea typeface="Calibri" panose="020F0502020204030204"/>
                <a:cs typeface="Calibri" panose="020F0502020204030204"/>
              </a:rPr>
              <a:t>: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 </a:t>
            </a:r>
            <a:r>
              <a:rPr lang="en-US" sz="2000" dirty="0">
                <a:ea typeface="+mn-lt"/>
                <a:cs typeface="+mn-lt"/>
                <a:hlinkClick r:id="rId9"/>
              </a:rPr>
              <a:t>https://homel.vsb.cz/~cho0178/MCU/MCUCompositeStructure.pdf</a:t>
            </a:r>
            <a:endParaRPr lang="en-US" sz="20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1169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F7537-0D1E-E191-E02D-C8873C1B5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8D0D8-FBE9-7EC8-0F6B-0BEDD378F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638511"/>
          </a:xfrm>
        </p:spPr>
        <p:txBody>
          <a:bodyPr>
            <a:noAutofit/>
          </a:bodyPr>
          <a:lstStyle/>
          <a:p>
            <a:r>
              <a:rPr lang="en-US" sz="4000">
                <a:latin typeface="Arial Black"/>
                <a:ea typeface="Calibri Light"/>
                <a:cs typeface="Calibri Light"/>
              </a:rPr>
              <a:t>software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A82E7-3D86-BA21-B20E-7B5F739EC7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250837"/>
            <a:ext cx="10893796" cy="5125802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2200" b="1" err="1">
                <a:ea typeface="Calibri" panose="020F0502020204030204"/>
                <a:cs typeface="Calibri" panose="020F0502020204030204"/>
              </a:rPr>
              <a:t>NotArduino</a:t>
            </a:r>
            <a:endParaRPr lang="en-US" sz="2200" err="1">
              <a:ea typeface="Calibri" panose="020F0502020204030204"/>
              <a:cs typeface="Calibri" panose="020F0502020204030204"/>
            </a:endParaRPr>
          </a:p>
          <a:p>
            <a:pPr>
              <a:buClr>
                <a:srgbClr val="FFFFFF"/>
              </a:buClr>
              <a:buFont typeface="Calibri"/>
              <a:buChar char="-"/>
            </a:pPr>
            <a:r>
              <a:rPr lang="en-US" sz="1900" dirty="0" err="1">
                <a:ea typeface="Calibri" panose="020F0502020204030204"/>
                <a:cs typeface="Calibri" panose="020F0502020204030204"/>
              </a:rPr>
              <a:t>Funkce</a:t>
            </a:r>
            <a:r>
              <a:rPr lang="en-US" sz="1900" dirty="0">
                <a:ea typeface="Calibri" panose="020F0502020204030204"/>
                <a:cs typeface="Calibri" panose="020F0502020204030204"/>
              </a:rPr>
              <a:t>: </a:t>
            </a:r>
            <a:r>
              <a:rPr lang="en-US" sz="1900" dirty="0" err="1">
                <a:latin typeface="Consolas"/>
                <a:ea typeface="Calibri" panose="020F0502020204030204"/>
                <a:cs typeface="Calibri" panose="020F0502020204030204"/>
              </a:rPr>
              <a:t>pinMode</a:t>
            </a:r>
            <a:r>
              <a:rPr lang="en-US" sz="1900" dirty="0">
                <a:latin typeface="Consolas"/>
                <a:ea typeface="Calibri" panose="020F0502020204030204"/>
                <a:cs typeface="Calibri" panose="020F0502020204030204"/>
              </a:rPr>
              <a:t>(PIN, MODE), </a:t>
            </a:r>
            <a:r>
              <a:rPr lang="en-US" sz="1900" dirty="0" err="1">
                <a:latin typeface="Consolas"/>
                <a:ea typeface="Calibri" panose="020F0502020204030204"/>
                <a:cs typeface="Calibri" panose="020F0502020204030204"/>
              </a:rPr>
              <a:t>digitalWrite</a:t>
            </a:r>
            <a:r>
              <a:rPr lang="en-US" sz="1900" dirty="0">
                <a:latin typeface="Consolas"/>
                <a:ea typeface="Calibri" panose="020F0502020204030204"/>
                <a:cs typeface="Calibri" panose="020F0502020204030204"/>
              </a:rPr>
              <a:t>(PIN, LOW/HIGH), </a:t>
            </a:r>
            <a:r>
              <a:rPr lang="en-US" sz="1900" dirty="0" err="1">
                <a:latin typeface="Consolas"/>
                <a:ea typeface="Calibri" panose="020F0502020204030204"/>
                <a:cs typeface="Calibri" panose="020F0502020204030204"/>
              </a:rPr>
              <a:t>digitalRead</a:t>
            </a:r>
            <a:r>
              <a:rPr lang="en-US" sz="1900" dirty="0">
                <a:latin typeface="Consolas"/>
                <a:ea typeface="Calibri" panose="020F0502020204030204"/>
                <a:cs typeface="Calibri" panose="020F0502020204030204"/>
              </a:rPr>
              <a:t>(PIN),</a:t>
            </a:r>
            <a:br>
              <a:rPr lang="en-US" dirty="0">
                <a:latin typeface="Consolas"/>
                <a:ea typeface="Calibri" panose="020F0502020204030204"/>
                <a:cs typeface="Calibri" panose="020F0502020204030204"/>
              </a:rPr>
            </a:br>
            <a:r>
              <a:rPr lang="en-US" sz="1900" dirty="0" err="1">
                <a:latin typeface="Consolas"/>
                <a:ea typeface="Calibri" panose="020F0502020204030204"/>
                <a:cs typeface="Calibri" panose="020F0502020204030204"/>
              </a:rPr>
              <a:t>analogWrite</a:t>
            </a:r>
            <a:r>
              <a:rPr lang="en-US" sz="1900" dirty="0">
                <a:latin typeface="Consolas"/>
                <a:ea typeface="Calibri" panose="020F0502020204030204"/>
                <a:cs typeface="Calibri" panose="020F0502020204030204"/>
              </a:rPr>
              <a:t>(PIN, 0-255)</a:t>
            </a:r>
            <a:r>
              <a:rPr lang="en-US" sz="1900" dirty="0">
                <a:ea typeface="Calibri" panose="020F0502020204030204"/>
                <a:cs typeface="Calibri" panose="020F0502020204030204"/>
              </a:rPr>
              <a:t> (z </a:t>
            </a:r>
            <a:r>
              <a:rPr lang="en-US" sz="1900" dirty="0" err="1">
                <a:ea typeface="Calibri" panose="020F0502020204030204"/>
                <a:cs typeface="Calibri" panose="020F0502020204030204"/>
              </a:rPr>
              <a:t>předdefinovaných</a:t>
            </a:r>
            <a:r>
              <a:rPr lang="en-US" sz="1900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sz="1900" dirty="0" err="1">
                <a:ea typeface="Calibri" panose="020F0502020204030204"/>
                <a:cs typeface="Calibri" panose="020F0502020204030204"/>
              </a:rPr>
              <a:t>vlastností</a:t>
            </a:r>
            <a:r>
              <a:rPr lang="en-US" sz="1900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sz="1900" dirty="0" err="1">
                <a:ea typeface="Calibri" panose="020F0502020204030204"/>
                <a:cs typeface="Calibri" panose="020F0502020204030204"/>
              </a:rPr>
              <a:t>nastaví</a:t>
            </a:r>
            <a:r>
              <a:rPr lang="en-US" sz="1900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sz="1900" dirty="0" err="1">
                <a:ea typeface="Calibri" panose="020F0502020204030204"/>
                <a:cs typeface="Calibri" panose="020F0502020204030204"/>
              </a:rPr>
              <a:t>altMode</a:t>
            </a:r>
            <a:r>
              <a:rPr lang="en-US" sz="1900" dirty="0">
                <a:ea typeface="Calibri" panose="020F0502020204030204"/>
                <a:cs typeface="Calibri" panose="020F0502020204030204"/>
              </a:rPr>
              <a:t>, a </a:t>
            </a:r>
            <a:r>
              <a:rPr lang="en-US" sz="1900" dirty="0" err="1">
                <a:ea typeface="Calibri" panose="020F0502020204030204"/>
                <a:cs typeface="Calibri" panose="020F0502020204030204"/>
              </a:rPr>
              <a:t>správný</a:t>
            </a:r>
            <a:r>
              <a:rPr lang="en-US" sz="1900" dirty="0">
                <a:ea typeface="Calibri" panose="020F0502020204030204"/>
                <a:cs typeface="Calibri" panose="020F0502020204030204"/>
              </a:rPr>
              <a:t> TPM s </a:t>
            </a:r>
            <a:r>
              <a:rPr lang="en-US" sz="1900" dirty="0" err="1">
                <a:ea typeface="Calibri" panose="020F0502020204030204"/>
                <a:cs typeface="Calibri" panose="020F0502020204030204"/>
              </a:rPr>
              <a:t>kanálem</a:t>
            </a:r>
            <a:r>
              <a:rPr lang="en-US" sz="1900" dirty="0">
                <a:ea typeface="Calibri" panose="020F0502020204030204"/>
                <a:cs typeface="Calibri" panose="020F0502020204030204"/>
              </a:rPr>
              <a:t> pro </a:t>
            </a:r>
            <a:r>
              <a:rPr lang="en-US" sz="1900" dirty="0" err="1">
                <a:ea typeface="Calibri" panose="020F0502020204030204"/>
                <a:cs typeface="Calibri" panose="020F0502020204030204"/>
              </a:rPr>
              <a:t>daný</a:t>
            </a:r>
            <a:r>
              <a:rPr lang="en-US" sz="1900" dirty="0">
                <a:ea typeface="Calibri" panose="020F0502020204030204"/>
                <a:cs typeface="Calibri" panose="020F0502020204030204"/>
              </a:rPr>
              <a:t> pin), </a:t>
            </a:r>
            <a:r>
              <a:rPr lang="en-US" sz="1900" dirty="0">
                <a:latin typeface="Consolas"/>
                <a:ea typeface="Calibri" panose="020F0502020204030204"/>
                <a:cs typeface="Calibri" panose="020F0502020204030204"/>
              </a:rPr>
              <a:t>map(x, </a:t>
            </a:r>
            <a:r>
              <a:rPr lang="en-US" sz="1900" dirty="0" err="1">
                <a:latin typeface="Consolas"/>
                <a:ea typeface="Calibri" panose="020F0502020204030204"/>
                <a:cs typeface="Calibri" panose="020F0502020204030204"/>
              </a:rPr>
              <a:t>in_min</a:t>
            </a:r>
            <a:r>
              <a:rPr lang="en-US" sz="1900" dirty="0">
                <a:latin typeface="Consolas"/>
                <a:ea typeface="Calibri" panose="020F0502020204030204"/>
                <a:cs typeface="Calibri" panose="020F0502020204030204"/>
              </a:rPr>
              <a:t>, </a:t>
            </a:r>
            <a:r>
              <a:rPr lang="en-US" sz="1900" dirty="0" err="1">
                <a:latin typeface="Consolas"/>
                <a:ea typeface="Calibri" panose="020F0502020204030204"/>
                <a:cs typeface="Calibri" panose="020F0502020204030204"/>
              </a:rPr>
              <a:t>in_max</a:t>
            </a:r>
            <a:r>
              <a:rPr lang="en-US" sz="1900" dirty="0">
                <a:latin typeface="Consolas"/>
                <a:ea typeface="Calibri" panose="020F0502020204030204"/>
                <a:cs typeface="Calibri" panose="020F0502020204030204"/>
              </a:rPr>
              <a:t>, </a:t>
            </a:r>
            <a:r>
              <a:rPr lang="en-US" sz="1900" dirty="0" err="1">
                <a:latin typeface="Consolas"/>
                <a:ea typeface="Calibri" panose="020F0502020204030204"/>
                <a:cs typeface="Calibri" panose="020F0502020204030204"/>
              </a:rPr>
              <a:t>out_min</a:t>
            </a:r>
            <a:r>
              <a:rPr lang="en-US" sz="1900" dirty="0">
                <a:latin typeface="Consolas"/>
                <a:ea typeface="Calibri" panose="020F0502020204030204"/>
                <a:cs typeface="Calibri" panose="020F0502020204030204"/>
              </a:rPr>
              <a:t>, </a:t>
            </a:r>
            <a:r>
              <a:rPr lang="en-US" sz="1900" dirty="0" err="1">
                <a:latin typeface="Consolas"/>
                <a:ea typeface="Calibri" panose="020F0502020204030204"/>
                <a:cs typeface="Calibri" panose="020F0502020204030204"/>
              </a:rPr>
              <a:t>out_max</a:t>
            </a:r>
            <a:r>
              <a:rPr lang="en-US" sz="1900" dirty="0">
                <a:latin typeface="Consolas"/>
                <a:ea typeface="Calibri" panose="020F0502020204030204"/>
                <a:cs typeface="Calibri" panose="020F0502020204030204"/>
              </a:rPr>
              <a:t>), </a:t>
            </a:r>
            <a:r>
              <a:rPr lang="en-US" sz="1900" dirty="0" err="1">
                <a:latin typeface="Consolas"/>
                <a:ea typeface="Calibri" panose="020F0502020204030204"/>
                <a:cs typeface="Calibri" panose="020F0502020204030204"/>
              </a:rPr>
              <a:t>delay_ms</a:t>
            </a:r>
            <a:r>
              <a:rPr lang="en-US" sz="1900" dirty="0">
                <a:latin typeface="Consolas"/>
                <a:ea typeface="Calibri" panose="020F0502020204030204"/>
                <a:cs typeface="Calibri" panose="020F0502020204030204"/>
              </a:rPr>
              <a:t>(</a:t>
            </a:r>
            <a:r>
              <a:rPr lang="en-US" sz="1900" dirty="0" err="1">
                <a:latin typeface="Consolas"/>
                <a:ea typeface="Calibri" panose="020F0502020204030204"/>
                <a:cs typeface="Calibri" panose="020F0502020204030204"/>
              </a:rPr>
              <a:t>ms</a:t>
            </a:r>
            <a:r>
              <a:rPr lang="en-US" sz="1900" dirty="0">
                <a:latin typeface="Consolas"/>
                <a:ea typeface="Calibri" panose="020F0502020204030204"/>
                <a:cs typeface="Calibri" panose="020F0502020204030204"/>
              </a:rPr>
              <a:t>)</a:t>
            </a:r>
            <a:endParaRPr lang="en-US" sz="1900"/>
          </a:p>
          <a:p>
            <a:pPr>
              <a:buClr>
                <a:srgbClr val="FFFFFF"/>
              </a:buClr>
              <a:buFont typeface="Calibri"/>
              <a:buChar char="-"/>
            </a:pPr>
            <a:r>
              <a:rPr lang="en-US" sz="1900" dirty="0">
                <a:ea typeface="Calibri" panose="020F0502020204030204"/>
                <a:cs typeface="Calibri" panose="020F0502020204030204"/>
              </a:rPr>
              <a:t>Enum: </a:t>
            </a:r>
            <a:r>
              <a:rPr lang="en-US" sz="1900" dirty="0" err="1">
                <a:ea typeface="Calibri" panose="020F0502020204030204"/>
                <a:cs typeface="Calibri" panose="020F0502020204030204"/>
              </a:rPr>
              <a:t>Označení</a:t>
            </a:r>
            <a:r>
              <a:rPr lang="en-US" sz="1900" dirty="0">
                <a:ea typeface="Calibri" panose="020F0502020204030204"/>
                <a:cs typeface="Calibri" panose="020F0502020204030204"/>
              </a:rPr>
              <a:t> </a:t>
            </a:r>
            <a:r>
              <a:rPr lang="en-US" sz="1900" dirty="0" err="1">
                <a:ea typeface="Calibri" panose="020F0502020204030204"/>
                <a:cs typeface="Calibri" panose="020F0502020204030204"/>
              </a:rPr>
              <a:t>všech</a:t>
            </a:r>
            <a:r>
              <a:rPr lang="en-US" sz="1900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sz="1900" dirty="0" err="1">
                <a:ea typeface="Calibri" panose="020F0502020204030204"/>
                <a:cs typeface="Calibri" panose="020F0502020204030204"/>
              </a:rPr>
              <a:t>pinů</a:t>
            </a:r>
            <a:r>
              <a:rPr lang="en-US" sz="1900" dirty="0">
                <a:ea typeface="Calibri" panose="020F0502020204030204"/>
                <a:cs typeface="Calibri" panose="020F0502020204030204"/>
              </a:rPr>
              <a:t> v </a:t>
            </a:r>
            <a:r>
              <a:rPr lang="en-US" sz="1900" dirty="0" err="1">
                <a:ea typeface="Calibri" panose="020F0502020204030204"/>
                <a:cs typeface="Calibri" panose="020F0502020204030204"/>
              </a:rPr>
              <a:t>příslušných</a:t>
            </a:r>
            <a:r>
              <a:rPr lang="en-US" sz="1900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sz="1900" dirty="0" err="1">
                <a:ea typeface="Calibri" panose="020F0502020204030204"/>
                <a:cs typeface="Calibri" panose="020F0502020204030204"/>
              </a:rPr>
              <a:t>portech</a:t>
            </a:r>
            <a:r>
              <a:rPr lang="en-US" sz="1900" dirty="0">
                <a:ea typeface="Calibri" panose="020F0502020204030204"/>
                <a:cs typeface="Calibri" panose="020F0502020204030204"/>
              </a:rPr>
              <a:t>, </a:t>
            </a:r>
            <a:r>
              <a:rPr lang="en-US" sz="1900" dirty="0">
                <a:latin typeface="Consolas"/>
                <a:ea typeface="Calibri" panose="020F0502020204030204"/>
                <a:cs typeface="Calibri" panose="020F0502020204030204"/>
              </a:rPr>
              <a:t>LOW/HIGH, INPUT/OUTPUT, ON/OFF</a:t>
            </a:r>
          </a:p>
          <a:p>
            <a:pPr marL="0" indent="0">
              <a:buClr>
                <a:srgbClr val="FFFFFF"/>
              </a:buClr>
              <a:buNone/>
            </a:pPr>
            <a:r>
              <a:rPr lang="en-US" sz="2200" b="1" dirty="0" err="1">
                <a:ea typeface="Calibri" panose="020F0502020204030204"/>
                <a:cs typeface="Calibri" panose="020F0502020204030204"/>
              </a:rPr>
              <a:t>PoT</a:t>
            </a:r>
            <a:endParaRPr lang="en-US" sz="2200" b="1" dirty="0">
              <a:ea typeface="Calibri" panose="020F0502020204030204"/>
              <a:cs typeface="Calibri" panose="020F0502020204030204"/>
            </a:endParaRPr>
          </a:p>
          <a:p>
            <a:pPr>
              <a:buFont typeface="Calibri"/>
              <a:buChar char="-"/>
            </a:pPr>
            <a:r>
              <a:rPr lang="en-US" sz="1900" dirty="0" err="1">
                <a:ea typeface="Calibri" panose="020F0502020204030204"/>
                <a:cs typeface="Calibri" panose="020F0502020204030204"/>
              </a:rPr>
              <a:t>Funkce</a:t>
            </a:r>
            <a:r>
              <a:rPr lang="en-US" sz="1900" dirty="0">
                <a:ea typeface="Calibri" panose="020F0502020204030204"/>
                <a:cs typeface="Calibri" panose="020F0502020204030204"/>
              </a:rPr>
              <a:t>: </a:t>
            </a:r>
            <a:r>
              <a:rPr lang="en-US" sz="1900" dirty="0" err="1">
                <a:latin typeface="Consolas"/>
                <a:ea typeface="Calibri" panose="020F0502020204030204"/>
                <a:cs typeface="Calibri" panose="020F0502020204030204"/>
              </a:rPr>
              <a:t>readADCChannel</a:t>
            </a:r>
            <a:r>
              <a:rPr lang="en-US" sz="1900" dirty="0">
                <a:latin typeface="Consolas"/>
                <a:ea typeface="Calibri" panose="020F0502020204030204"/>
                <a:cs typeface="Calibri" panose="020F0502020204030204"/>
              </a:rPr>
              <a:t>(ch), readPot1(), readPot2()</a:t>
            </a:r>
          </a:p>
          <a:p>
            <a:pPr marL="0" indent="0">
              <a:buClr>
                <a:srgbClr val="FFFFFF"/>
              </a:buClr>
              <a:buNone/>
            </a:pPr>
            <a:r>
              <a:rPr lang="en-US" sz="2200" b="1" dirty="0">
                <a:ea typeface="Calibri" panose="020F0502020204030204"/>
                <a:cs typeface="Calibri" panose="020F0502020204030204"/>
              </a:rPr>
              <a:t>RGB</a:t>
            </a:r>
          </a:p>
          <a:p>
            <a:pPr>
              <a:buFont typeface="Calibri"/>
              <a:buChar char="-"/>
            </a:pPr>
            <a:r>
              <a:rPr lang="en-US" sz="2000" dirty="0" err="1">
                <a:ea typeface="Calibri" panose="020F0502020204030204"/>
                <a:cs typeface="Calibri" panose="020F0502020204030204"/>
              </a:rPr>
              <a:t>Funkce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: </a:t>
            </a:r>
            <a:r>
              <a:rPr lang="en-US" sz="1900" dirty="0" err="1">
                <a:latin typeface="Consolas"/>
                <a:ea typeface="Calibri" panose="020F0502020204030204"/>
                <a:cs typeface="Calibri" panose="020F0502020204030204"/>
              </a:rPr>
              <a:t>RGB_init</a:t>
            </a:r>
            <a:r>
              <a:rPr lang="en-US" sz="1900" dirty="0">
                <a:latin typeface="Consolas"/>
                <a:ea typeface="Calibri" panose="020F0502020204030204"/>
                <a:cs typeface="Calibri" panose="020F0502020204030204"/>
              </a:rPr>
              <a:t>(), </a:t>
            </a:r>
            <a:r>
              <a:rPr lang="en-US" sz="1900" dirty="0" err="1">
                <a:latin typeface="Consolas"/>
                <a:ea typeface="Calibri" panose="020F0502020204030204"/>
                <a:cs typeface="Calibri" panose="020F0502020204030204"/>
              </a:rPr>
              <a:t>RGB_Set</a:t>
            </a:r>
            <a:r>
              <a:rPr lang="en-US" sz="1900" dirty="0">
                <a:latin typeface="Consolas"/>
                <a:ea typeface="Calibri" panose="020F0502020204030204"/>
                <a:cs typeface="Calibri" panose="020F0502020204030204"/>
              </a:rPr>
              <a:t>(STATE), </a:t>
            </a:r>
            <a:r>
              <a:rPr lang="en-US" sz="1900" dirty="0" err="1">
                <a:latin typeface="Consolas"/>
                <a:ea typeface="Calibri" panose="020F0502020204030204"/>
                <a:cs typeface="Calibri" panose="020F0502020204030204"/>
              </a:rPr>
              <a:t>RGB_SetColor</a:t>
            </a:r>
            <a:r>
              <a:rPr lang="en-US" sz="1900" dirty="0">
                <a:latin typeface="Consolas"/>
                <a:ea typeface="Calibri" panose="020F0502020204030204"/>
                <a:cs typeface="Calibri" panose="020F0502020204030204"/>
              </a:rPr>
              <a:t>(COLOR, STATE),</a:t>
            </a:r>
            <a:br>
              <a:rPr lang="en-US" sz="1900" dirty="0">
                <a:latin typeface="Consolas"/>
                <a:ea typeface="Calibri" panose="020F0502020204030204"/>
                <a:cs typeface="Calibri" panose="020F0502020204030204"/>
              </a:rPr>
            </a:br>
            <a:r>
              <a:rPr lang="en-US" sz="1900" dirty="0" err="1">
                <a:latin typeface="Consolas"/>
                <a:ea typeface="Calibri" panose="020F0502020204030204"/>
                <a:cs typeface="Calibri" panose="020F0502020204030204"/>
              </a:rPr>
              <a:t>RGB_AnalogWrite</a:t>
            </a:r>
            <a:r>
              <a:rPr lang="en-US" sz="1900" dirty="0">
                <a:latin typeface="Consolas"/>
                <a:ea typeface="Calibri" panose="020F0502020204030204"/>
                <a:cs typeface="Calibri" panose="020F0502020204030204"/>
              </a:rPr>
              <a:t>(R, G, B), </a:t>
            </a:r>
            <a:r>
              <a:rPr lang="en-US" sz="1900" dirty="0" err="1">
                <a:latin typeface="Consolas"/>
                <a:ea typeface="Calibri" panose="020F0502020204030204"/>
                <a:cs typeface="Calibri" panose="020F0502020204030204"/>
              </a:rPr>
              <a:t>RGB_SetBrightness</a:t>
            </a:r>
            <a:r>
              <a:rPr lang="en-US" sz="1900" dirty="0">
                <a:latin typeface="Consolas"/>
                <a:ea typeface="Calibri" panose="020F0502020204030204"/>
                <a:cs typeface="Calibri" panose="020F0502020204030204"/>
              </a:rPr>
              <a:t>(COLOR, 0-255)</a:t>
            </a:r>
            <a:endParaRPr lang="en-US" dirty="0">
              <a:ea typeface="Calibri"/>
              <a:cs typeface="Calibri"/>
            </a:endParaRPr>
          </a:p>
          <a:p>
            <a:pPr>
              <a:buClr>
                <a:srgbClr val="FFFFFF"/>
              </a:buClr>
              <a:buFont typeface="Calibri"/>
              <a:buChar char="-"/>
            </a:pPr>
            <a:r>
              <a:rPr lang="en-US" sz="2000" dirty="0">
                <a:ea typeface="Calibri" panose="020F0502020204030204"/>
                <a:cs typeface="Calibri" panose="020F0502020204030204"/>
              </a:rPr>
              <a:t>Enum: </a:t>
            </a:r>
            <a:r>
              <a:rPr lang="en-US" sz="1900" dirty="0" err="1">
                <a:latin typeface="Consolas"/>
                <a:ea typeface="Calibri" panose="020F0502020204030204"/>
                <a:cs typeface="Calibri" panose="020F0502020204030204"/>
              </a:rPr>
              <a:t>RGBColor</a:t>
            </a:r>
            <a:endParaRPr lang="en-US" sz="1900" dirty="0">
              <a:latin typeface="Consolas"/>
              <a:ea typeface="Calibri" panose="020F0502020204030204"/>
              <a:cs typeface="Calibri" panose="020F0502020204030204"/>
            </a:endParaRPr>
          </a:p>
          <a:p>
            <a:pPr marL="0" indent="0">
              <a:buClr>
                <a:srgbClr val="FFFFFF"/>
              </a:buClr>
              <a:buNone/>
            </a:pPr>
            <a:r>
              <a:rPr lang="en-US" sz="2200" b="1">
                <a:ea typeface="Calibri" panose="020F0502020204030204"/>
                <a:cs typeface="Calibri" panose="020F0502020204030204"/>
              </a:rPr>
              <a:t>Serial</a:t>
            </a:r>
          </a:p>
          <a:p>
            <a:pPr marL="342900" indent="-342900">
              <a:buFont typeface="Calibri"/>
              <a:buChar char="-"/>
            </a:pPr>
            <a:r>
              <a:rPr lang="en-US" sz="2000" dirty="0" err="1">
                <a:ea typeface="Calibri" panose="020F0502020204030204"/>
                <a:cs typeface="Calibri" panose="020F0502020204030204"/>
              </a:rPr>
              <a:t>Funkce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: </a:t>
            </a:r>
            <a:r>
              <a:rPr lang="en-US" sz="1900" dirty="0" err="1">
                <a:latin typeface="Consolas"/>
                <a:ea typeface="Calibri" panose="020F0502020204030204"/>
                <a:cs typeface="Calibri" panose="020F0502020204030204"/>
              </a:rPr>
              <a:t>Serial_begin</a:t>
            </a:r>
            <a:r>
              <a:rPr lang="en-US" sz="1900" dirty="0">
                <a:latin typeface="Consolas"/>
                <a:ea typeface="Calibri" panose="020F0502020204030204"/>
                <a:cs typeface="Calibri" panose="020F0502020204030204"/>
              </a:rPr>
              <a:t>(baud), </a:t>
            </a:r>
            <a:r>
              <a:rPr lang="en-US" sz="1900" dirty="0" err="1">
                <a:latin typeface="Consolas"/>
                <a:ea typeface="Calibri" panose="020F0502020204030204"/>
                <a:cs typeface="Calibri" panose="020F0502020204030204"/>
              </a:rPr>
              <a:t>Serial_write</a:t>
            </a:r>
            <a:r>
              <a:rPr lang="en-US" sz="1900" dirty="0">
                <a:latin typeface="Consolas"/>
                <a:ea typeface="Calibri" panose="020F0502020204030204"/>
                <a:cs typeface="Calibri" panose="020F0502020204030204"/>
              </a:rPr>
              <a:t>(data), </a:t>
            </a:r>
            <a:r>
              <a:rPr lang="en-US" sz="1900" dirty="0" err="1">
                <a:latin typeface="Consolas"/>
                <a:ea typeface="Calibri" panose="020F0502020204030204"/>
                <a:cs typeface="Calibri" panose="020F0502020204030204"/>
              </a:rPr>
              <a:t>Serial_print</a:t>
            </a:r>
            <a:r>
              <a:rPr lang="en-US" sz="1900" dirty="0">
                <a:latin typeface="Consolas"/>
                <a:ea typeface="Calibri" panose="020F0502020204030204"/>
                <a:cs typeface="Calibri" panose="020F0502020204030204"/>
              </a:rPr>
              <a:t>(string)</a:t>
            </a:r>
            <a:br>
              <a:rPr lang="en-US" sz="1900" dirty="0">
                <a:latin typeface="Consolas"/>
                <a:ea typeface="Calibri" panose="020F0502020204030204"/>
                <a:cs typeface="Calibri" panose="020F0502020204030204"/>
              </a:rPr>
            </a:br>
            <a:r>
              <a:rPr lang="en-US" sz="1900" dirty="0" err="1">
                <a:latin typeface="Consolas"/>
                <a:ea typeface="Calibri" panose="020F0502020204030204"/>
                <a:cs typeface="Calibri" panose="020F0502020204030204"/>
              </a:rPr>
              <a:t>Serial_println</a:t>
            </a:r>
            <a:r>
              <a:rPr lang="en-US" sz="1900" dirty="0">
                <a:latin typeface="Consolas"/>
                <a:ea typeface="Calibri" panose="020F0502020204030204"/>
                <a:cs typeface="Calibri" panose="020F0502020204030204"/>
              </a:rPr>
              <a:t>(string), </a:t>
            </a:r>
            <a:r>
              <a:rPr lang="en-US" sz="1900" dirty="0" err="1">
                <a:latin typeface="Consolas"/>
                <a:ea typeface="Calibri" panose="020F0502020204030204"/>
                <a:cs typeface="Calibri" panose="020F0502020204030204"/>
              </a:rPr>
              <a:t>Serial_printInt</a:t>
            </a:r>
            <a:r>
              <a:rPr lang="en-US" sz="1900" dirty="0">
                <a:latin typeface="Consolas"/>
                <a:ea typeface="Calibri" panose="020F0502020204030204"/>
                <a:cs typeface="Calibri" panose="020F0502020204030204"/>
              </a:rPr>
              <a:t>(int32), </a:t>
            </a:r>
            <a:r>
              <a:rPr lang="en-US" sz="1900" dirty="0" err="1">
                <a:latin typeface="Consolas"/>
                <a:ea typeface="Calibri" panose="020F0502020204030204"/>
                <a:cs typeface="Calibri" panose="020F0502020204030204"/>
              </a:rPr>
              <a:t>Serial_printUInt</a:t>
            </a:r>
            <a:r>
              <a:rPr lang="en-US" sz="1900" dirty="0">
                <a:latin typeface="Consolas"/>
                <a:ea typeface="Calibri" panose="020F0502020204030204"/>
                <a:cs typeface="Calibri" panose="020F0502020204030204"/>
              </a:rPr>
              <a:t>(uint32)</a:t>
            </a:r>
          </a:p>
          <a:p>
            <a:pPr marL="0" indent="0">
              <a:buNone/>
            </a:pPr>
            <a:endParaRPr lang="en-US" sz="200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 sz="200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523482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9F44E-8268-86C5-1455-647A4AA2F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75CE3-892A-10E2-56E5-7A67674A0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638511"/>
          </a:xfrm>
        </p:spPr>
        <p:txBody>
          <a:bodyPr>
            <a:noAutofit/>
          </a:bodyPr>
          <a:lstStyle/>
          <a:p>
            <a:r>
              <a:rPr lang="en-US" sz="4000">
                <a:latin typeface="Arial Black"/>
                <a:ea typeface="Calibri Light"/>
                <a:cs typeface="Calibri Light"/>
              </a:rPr>
              <a:t>Experience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EBDC9-3BE9-134B-554E-3B8B2FFEF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240677"/>
            <a:ext cx="10828376" cy="513596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b="1" dirty="0">
                <a:ea typeface="Calibri" panose="020F0502020204030204"/>
                <a:cs typeface="Calibri" panose="020F0502020204030204"/>
              </a:rPr>
              <a:t>S </a:t>
            </a:r>
            <a:r>
              <a:rPr lang="en-US" sz="2000" b="1" dirty="0" err="1">
                <a:ea typeface="Calibri" panose="020F0502020204030204"/>
                <a:cs typeface="Calibri" panose="020F0502020204030204"/>
              </a:rPr>
              <a:t>čím</a:t>
            </a:r>
            <a:r>
              <a:rPr lang="en-US" sz="2000" b="1" dirty="0">
                <a:ea typeface="Calibri" panose="020F0502020204030204"/>
                <a:cs typeface="Calibri" panose="020F0502020204030204"/>
              </a:rPr>
              <a:t> </a:t>
            </a:r>
            <a:r>
              <a:rPr lang="en-US" sz="2000" b="1" dirty="0" err="1">
                <a:ea typeface="Calibri" panose="020F0502020204030204"/>
                <a:cs typeface="Calibri" panose="020F0502020204030204"/>
              </a:rPr>
              <a:t>jsme</a:t>
            </a:r>
            <a:r>
              <a:rPr lang="en-US" sz="2000" b="1" dirty="0">
                <a:ea typeface="Calibri" panose="020F0502020204030204"/>
                <a:cs typeface="Calibri" panose="020F0502020204030204"/>
              </a:rPr>
              <a:t> se </a:t>
            </a:r>
            <a:r>
              <a:rPr lang="en-US" sz="2000" b="1" dirty="0" err="1">
                <a:ea typeface="Calibri" panose="020F0502020204030204"/>
                <a:cs typeface="Calibri" panose="020F0502020204030204"/>
              </a:rPr>
              <a:t>potýkali</a:t>
            </a:r>
            <a:endParaRPr lang="en-US" sz="2000" b="1" dirty="0">
              <a:ea typeface="Calibri" panose="020F0502020204030204"/>
              <a:cs typeface="Calibri" panose="020F0502020204030204"/>
            </a:endParaRPr>
          </a:p>
          <a:p>
            <a:pPr>
              <a:buClr>
                <a:srgbClr val="FFFFFF"/>
              </a:buClr>
              <a:buFont typeface="Calibri"/>
              <a:buChar char="-"/>
            </a:pPr>
            <a:r>
              <a:rPr lang="en-US" sz="2000" dirty="0" err="1">
                <a:ea typeface="Calibri" panose="020F0502020204030204"/>
                <a:cs typeface="Calibri" panose="020F0502020204030204"/>
              </a:rPr>
              <a:t>Problémy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 s RGB, 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respektive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analogWrite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() - 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před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nastavením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 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druhého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kanálu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na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stejném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 TPM je 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potřeba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vypnout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časovač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 a po 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nastavení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 je 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potřeba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jej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znova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zapnout</a:t>
            </a:r>
            <a:endParaRPr lang="en-US" sz="2000" dirty="0">
              <a:ea typeface="Calibri" panose="020F0502020204030204"/>
              <a:cs typeface="Calibri" panose="020F0502020204030204"/>
            </a:endParaRPr>
          </a:p>
          <a:p>
            <a:pPr>
              <a:buClr>
                <a:srgbClr val="FFFFFF"/>
              </a:buClr>
              <a:buFont typeface="Calibri"/>
              <a:buChar char="-"/>
            </a:pPr>
            <a:r>
              <a:rPr lang="en-US" sz="2000" dirty="0" err="1">
                <a:ea typeface="Calibri" panose="020F0502020204030204"/>
                <a:cs typeface="Calibri" panose="020F0502020204030204"/>
              </a:rPr>
              <a:t>Problémy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 s 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nefunkčností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serialu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 - 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špatný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 UART (0 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místo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 1), 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komplexní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dokumentace</a:t>
            </a:r>
            <a:endParaRPr lang="en-US" sz="2000">
              <a:ea typeface="Calibri" panose="020F0502020204030204"/>
              <a:cs typeface="Calibri" panose="020F0502020204030204"/>
            </a:endParaRPr>
          </a:p>
          <a:p>
            <a:pPr marL="0" indent="0">
              <a:buClr>
                <a:srgbClr val="FFFFFF"/>
              </a:buClr>
              <a:buNone/>
            </a:pPr>
            <a:endParaRPr lang="en-US" sz="20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2000" b="1" dirty="0">
                <a:ea typeface="Calibri"/>
                <a:cs typeface="Calibri"/>
              </a:rPr>
              <a:t>Co </a:t>
            </a:r>
            <a:r>
              <a:rPr lang="en-US" sz="2000" b="1" dirty="0" err="1">
                <a:ea typeface="Calibri"/>
                <a:cs typeface="Calibri"/>
              </a:rPr>
              <a:t>nám</a:t>
            </a:r>
            <a:r>
              <a:rPr lang="en-US" sz="2000" b="1" dirty="0">
                <a:ea typeface="Calibri"/>
                <a:cs typeface="Calibri"/>
              </a:rPr>
              <a:t> </a:t>
            </a:r>
            <a:r>
              <a:rPr lang="en-US" sz="2000" b="1" dirty="0" err="1">
                <a:ea typeface="Calibri"/>
                <a:cs typeface="Calibri"/>
              </a:rPr>
              <a:t>přišlo</a:t>
            </a:r>
            <a:r>
              <a:rPr lang="en-US" sz="2000" b="1" dirty="0">
                <a:ea typeface="Calibri"/>
                <a:cs typeface="Calibri"/>
              </a:rPr>
              <a:t> </a:t>
            </a:r>
            <a:r>
              <a:rPr lang="en-US" sz="2000" b="1" dirty="0" err="1">
                <a:ea typeface="Calibri"/>
                <a:cs typeface="Calibri"/>
              </a:rPr>
              <a:t>zajímavé</a:t>
            </a:r>
            <a:r>
              <a:rPr lang="en-US" sz="2000" b="1" dirty="0">
                <a:ea typeface="Calibri"/>
                <a:cs typeface="Calibri"/>
              </a:rPr>
              <a:t>?</a:t>
            </a:r>
          </a:p>
          <a:p>
            <a:pPr>
              <a:buFont typeface="Calibri"/>
              <a:buChar char="-"/>
            </a:pPr>
            <a:r>
              <a:rPr lang="en-US" sz="2000" dirty="0" err="1">
                <a:ea typeface="Calibri"/>
                <a:cs typeface="Calibri"/>
              </a:rPr>
              <a:t>Dokumentace</a:t>
            </a:r>
            <a:r>
              <a:rPr lang="en-US" sz="2000" dirty="0">
                <a:ea typeface="Calibri"/>
                <a:cs typeface="Calibri"/>
              </a:rPr>
              <a:t> </a:t>
            </a:r>
            <a:r>
              <a:rPr lang="en-US" sz="2000" dirty="0" err="1">
                <a:ea typeface="Calibri"/>
                <a:cs typeface="Calibri"/>
              </a:rPr>
              <a:t>desky</a:t>
            </a:r>
            <a:endParaRPr lang="en-US" sz="20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76675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9C626-4553-2E2A-F7A5-877DCE7E0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6B2C7-1AE3-0446-0F3B-FD270B138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638511"/>
          </a:xfrm>
        </p:spPr>
        <p:txBody>
          <a:bodyPr>
            <a:noAutofit/>
          </a:bodyPr>
          <a:lstStyle/>
          <a:p>
            <a:r>
              <a:rPr lang="en-US" sz="4000" err="1">
                <a:latin typeface="Arial Black"/>
                <a:ea typeface="Calibri Light"/>
                <a:cs typeface="Calibri Light"/>
              </a:rPr>
              <a:t>závěr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ADAFA-3428-B838-F1FC-098955721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240677"/>
            <a:ext cx="10828376" cy="513596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b="1" dirty="0">
                <a:ea typeface="Calibri" panose="020F0502020204030204"/>
                <a:cs typeface="Calibri" panose="020F0502020204030204"/>
              </a:rPr>
              <a:t>Co </a:t>
            </a:r>
            <a:r>
              <a:rPr lang="en-US" sz="2000" b="1" dirty="0" err="1">
                <a:ea typeface="Calibri" panose="020F0502020204030204"/>
                <a:cs typeface="Calibri" panose="020F0502020204030204"/>
              </a:rPr>
              <a:t>udělat</a:t>
            </a:r>
            <a:r>
              <a:rPr lang="en-US" sz="2000" b="1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sz="2000" b="1" dirty="0" err="1">
                <a:ea typeface="Calibri" panose="020F0502020204030204"/>
                <a:cs typeface="Calibri" panose="020F0502020204030204"/>
              </a:rPr>
              <a:t>příště</a:t>
            </a:r>
            <a:r>
              <a:rPr lang="en-US" sz="2000" b="1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sz="2000" b="1" dirty="0" err="1">
                <a:ea typeface="Calibri" panose="020F0502020204030204"/>
                <a:cs typeface="Calibri" panose="020F0502020204030204"/>
              </a:rPr>
              <a:t>jinak</a:t>
            </a:r>
            <a:r>
              <a:rPr lang="en-US" sz="2000" b="1" dirty="0">
                <a:ea typeface="Calibri" panose="020F0502020204030204"/>
                <a:cs typeface="Calibri" panose="020F0502020204030204"/>
              </a:rPr>
              <a:t>?</a:t>
            </a:r>
          </a:p>
          <a:p>
            <a:pPr marL="0" indent="0">
              <a:buNone/>
            </a:pPr>
            <a:r>
              <a:rPr lang="en-US" sz="2000" dirty="0">
                <a:ea typeface="Calibri" panose="020F0502020204030204"/>
                <a:cs typeface="Calibri" panose="020F0502020204030204"/>
              </a:rPr>
              <a:t>Místo 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řešení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chyb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způsobem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opakoného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prohlížení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dokumentace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 a 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zkoušení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všech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 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možností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, 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bychom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si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příště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 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rovnou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pomohli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 AI</a:t>
            </a:r>
          </a:p>
          <a:p>
            <a:pPr marL="0" indent="0">
              <a:buNone/>
            </a:pPr>
            <a:endParaRPr lang="en-US" sz="2000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sz="2000" b="1" dirty="0">
                <a:ea typeface="Calibri" panose="020F0502020204030204"/>
                <a:cs typeface="Calibri" panose="020F0502020204030204"/>
              </a:rPr>
              <a:t>Co se </a:t>
            </a:r>
            <a:r>
              <a:rPr lang="en-US" sz="2000" b="1" dirty="0" err="1">
                <a:ea typeface="Calibri" panose="020F0502020204030204"/>
                <a:cs typeface="Calibri" panose="020F0502020204030204"/>
              </a:rPr>
              <a:t>nám</a:t>
            </a:r>
            <a:r>
              <a:rPr lang="en-US" sz="2000" b="1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sz="2000" b="1" dirty="0" err="1">
                <a:ea typeface="Calibri" panose="020F0502020204030204"/>
                <a:cs typeface="Calibri" panose="020F0502020204030204"/>
              </a:rPr>
              <a:t>líbilo</a:t>
            </a:r>
            <a:r>
              <a:rPr lang="en-US" sz="2000" b="1" dirty="0">
                <a:ea typeface="Calibri" panose="020F0502020204030204"/>
                <a:cs typeface="Calibri" panose="020F0502020204030204"/>
              </a:rPr>
              <a:t>?</a:t>
            </a:r>
            <a:endParaRPr lang="en-US" b="1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2000" dirty="0" err="1">
                <a:ea typeface="Calibri" panose="020F0502020204030204"/>
                <a:cs typeface="Calibri" panose="020F0502020204030204"/>
              </a:rPr>
              <a:t>Celkové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seznámení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 s embedded 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systémy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, 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rozšíření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znalostí</a:t>
            </a:r>
            <a:endParaRPr lang="en-US" sz="2000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 sz="2000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sz="2000" b="1" dirty="0">
                <a:ea typeface="Calibri" panose="020F0502020204030204"/>
                <a:cs typeface="Calibri" panose="020F0502020204030204"/>
              </a:rPr>
              <a:t>Co se </a:t>
            </a:r>
            <a:r>
              <a:rPr lang="en-US" sz="2000" b="1" dirty="0" err="1">
                <a:ea typeface="Calibri" panose="020F0502020204030204"/>
                <a:cs typeface="Calibri" panose="020F0502020204030204"/>
              </a:rPr>
              <a:t>nám</a:t>
            </a:r>
            <a:r>
              <a:rPr lang="en-US" sz="2000" b="1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sz="2000" b="1" dirty="0" err="1">
                <a:ea typeface="Calibri" panose="020F0502020204030204"/>
                <a:cs typeface="Calibri" panose="020F0502020204030204"/>
              </a:rPr>
              <a:t>nelíbilo</a:t>
            </a:r>
            <a:r>
              <a:rPr lang="en-US" sz="2000" b="1" dirty="0">
                <a:ea typeface="Calibri" panose="020F0502020204030204"/>
                <a:cs typeface="Calibri" panose="020F0502020204030204"/>
              </a:rPr>
              <a:t>?</a:t>
            </a:r>
          </a:p>
          <a:p>
            <a:pPr marL="0" indent="0">
              <a:buNone/>
            </a:pPr>
            <a:endParaRPr lang="en-US" sz="2000" b="1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 sz="2000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sz="2000" b="1" dirty="0">
                <a:ea typeface="Calibri" panose="020F0502020204030204"/>
                <a:cs typeface="Calibri" panose="020F0502020204030204"/>
              </a:rPr>
              <a:t>Co se </a:t>
            </a:r>
            <a:r>
              <a:rPr lang="en-US" sz="2000" b="1" dirty="0" err="1">
                <a:ea typeface="Calibri" panose="020F0502020204030204"/>
                <a:cs typeface="Calibri" panose="020F0502020204030204"/>
              </a:rPr>
              <a:t>nám</a:t>
            </a:r>
            <a:r>
              <a:rPr lang="en-US" sz="2000" b="1" dirty="0">
                <a:ea typeface="Calibri" panose="020F0502020204030204"/>
                <a:cs typeface="Calibri" panose="020F0502020204030204"/>
              </a:rPr>
              <a:t> </a:t>
            </a:r>
            <a:r>
              <a:rPr lang="en-US" sz="2000" b="1" dirty="0" err="1">
                <a:ea typeface="Calibri" panose="020F0502020204030204"/>
                <a:cs typeface="Calibri" panose="020F0502020204030204"/>
              </a:rPr>
              <a:t>nepodařilo</a:t>
            </a:r>
            <a:r>
              <a:rPr lang="en-US" sz="2000" b="1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sz="2000" b="1" dirty="0" err="1">
                <a:ea typeface="Calibri" panose="020F0502020204030204"/>
                <a:cs typeface="Calibri" panose="020F0502020204030204"/>
              </a:rPr>
              <a:t>dokončit</a:t>
            </a:r>
            <a:r>
              <a:rPr lang="en-US" sz="2000" b="1" dirty="0">
                <a:ea typeface="Calibri" panose="020F0502020204030204"/>
                <a:cs typeface="Calibri" panose="020F0502020204030204"/>
              </a:rPr>
              <a:t>?</a:t>
            </a:r>
          </a:p>
          <a:p>
            <a:pPr marL="0" indent="0">
              <a:buNone/>
            </a:pPr>
            <a:r>
              <a:rPr lang="en-US" sz="2000" dirty="0" err="1">
                <a:ea typeface="Calibri" panose="020F0502020204030204"/>
                <a:cs typeface="Calibri" panose="020F0502020204030204"/>
              </a:rPr>
              <a:t>Knihovnu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na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tlačítka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 a bar graf, to ale 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nebylo</a:t>
            </a:r>
            <a:r>
              <a:rPr lang="en-US" sz="2000" dirty="0">
                <a:ea typeface="Calibri" panose="020F0502020204030204"/>
                <a:cs typeface="Calibri" panose="020F0502020204030204"/>
              </a:rPr>
              <a:t> </a:t>
            </a:r>
            <a:r>
              <a:rPr lang="en-US" sz="2000" dirty="0" err="1">
                <a:ea typeface="Calibri" panose="020F0502020204030204"/>
                <a:cs typeface="Calibri" panose="020F0502020204030204"/>
              </a:rPr>
              <a:t>prioritou</a:t>
            </a:r>
            <a:endParaRPr lang="en-US" sz="2000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0126963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6476F"/>
      </a:dk2>
      <a:lt2>
        <a:srgbClr val="EBEBEB"/>
      </a:lt2>
      <a:accent1>
        <a:srgbClr val="E5B458"/>
      </a:accent1>
      <a:accent2>
        <a:srgbClr val="F77754"/>
      </a:accent2>
      <a:accent3>
        <a:srgbClr val="D8507E"/>
      </a:accent3>
      <a:accent4>
        <a:srgbClr val="BC70EE"/>
      </a:accent4>
      <a:accent5>
        <a:srgbClr val="3CA2E2"/>
      </a:accent5>
      <a:accent6>
        <a:srgbClr val="91BF77"/>
      </a:accent6>
      <a:hlink>
        <a:srgbClr val="71DDAB"/>
      </a:hlink>
      <a:folHlink>
        <a:srgbClr val="A6E4C7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B36E0D05-787B-4C61-8268-2D6C1FBEDA3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Celestial</vt:lpstr>
      <vt:lpstr>PowerPoint Presentation</vt:lpstr>
      <vt:lpstr>návrh</vt:lpstr>
      <vt:lpstr>Hardware</vt:lpstr>
      <vt:lpstr>software</vt:lpstr>
      <vt:lpstr>Experience</vt:lpstr>
      <vt:lpstr>závěr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213</cp:revision>
  <dcterms:created xsi:type="dcterms:W3CDTF">2026-05-29T06:16:38Z</dcterms:created>
  <dcterms:modified xsi:type="dcterms:W3CDTF">2026-05-29T10:32:22Z</dcterms:modified>
</cp:coreProperties>
</file>